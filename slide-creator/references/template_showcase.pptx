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2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3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4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5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6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7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8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売上（百万円）</c:v>
                </c:pt>
              </c:strCache>
            </c:strRef>
          </c:tx>
          <c:spPr>
            <a:solidFill>
              <a:srgbClr val="1B32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2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4A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9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325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8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4A7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A951"/>
              </a:solidFill>
              <a:effectLst/>
            </c:spPr>
          </c:dPt>
          <c:cat>
            <c:strRef>
              <c:f>Sheet1!$A$2:$A$9</c:f>
              <c:strCache>
                <c:ptCount val="8"/>
                <c:pt idx="0">
                  <c:v>2018年</c:v>
                </c:pt>
                <c:pt idx="1">
                  <c:v>2019年</c:v>
                </c:pt>
                <c:pt idx="2">
                  <c:v>2020年</c:v>
                </c:pt>
                <c:pt idx="3">
                  <c:v>2021年</c:v>
                </c:pt>
                <c:pt idx="4">
                  <c:v>2022年</c:v>
                </c:pt>
                <c:pt idx="5">
                  <c:v>2023年</c:v>
                </c:pt>
                <c:pt idx="6">
                  <c:v>2024年</c:v>
                </c:pt>
                <c:pt idx="7">
                  <c:v>2025年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78</c:v>
                </c:pt>
                <c:pt idx="4">
                  <c:v>105</c:v>
                </c:pt>
                <c:pt idx="5">
                  <c:v>142</c:v>
                </c:pt>
                <c:pt idx="6">
                  <c:v>198</c:v>
                </c:pt>
                <c:pt idx="7">
                  <c:v>265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2E"/>
                  </a:solidFill>
                  <a:latin typeface="Arial"/>
                  <a:ea typeface="Yu Gothic UI"/>
                  <a:cs typeface="Yu Gothic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新規顧客数</c:v>
                </c:pt>
              </c:strCache>
            </c:strRef>
          </c:tx>
          <c:spPr>
            <a:solidFill>
              <a:srgbClr val="1B3254"/>
            </a:solidFill>
            <a:ln w="38100" cap="flat">
              <a:solidFill>
                <a:srgbClr val="1B32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3254"/>
              </a:solidFill>
              <a:ln w="9525" cap="flat">
                <a:solidFill>
                  <a:srgbClr val="1B325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</c:v>
                </c:pt>
                <c:pt idx="1">
                  <c:v>12</c:v>
                </c:pt>
                <c:pt idx="2">
                  <c:v>15</c:v>
                </c:pt>
                <c:pt idx="3">
                  <c:v>18</c:v>
                </c:pt>
                <c:pt idx="4">
                  <c:v>14</c:v>
                </c:pt>
                <c:pt idx="5">
                  <c:v>22</c:v>
                </c:pt>
                <c:pt idx="6">
                  <c:v>28</c:v>
                </c:pt>
                <c:pt idx="7">
                  <c:v>25</c:v>
                </c:pt>
                <c:pt idx="8">
                  <c:v>32</c:v>
                </c:pt>
                <c:pt idx="9">
                  <c:v>38</c:v>
                </c:pt>
                <c:pt idx="10">
                  <c:v>35</c:v>
                </c:pt>
                <c:pt idx="11">
                  <c:v>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解約数</c:v>
                </c:pt>
              </c:strCache>
            </c:strRef>
          </c:tx>
          <c:spPr>
            <a:solidFill>
              <a:srgbClr val="2E7D8E"/>
            </a:solidFill>
            <a:ln w="38100" cap="flat">
              <a:solidFill>
                <a:srgbClr val="2E7D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8E"/>
              </a:solidFill>
              <a:ln w="9525" cap="flat">
                <a:solidFill>
                  <a:srgbClr val="2E7D8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  <c:pt idx="11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  <a:ea typeface="Yu Gothic UI"/>
                  <a:cs typeface="Yu Gothic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業務時間削減率（%）</c:v>
                </c:pt>
              </c:strCache>
            </c:strRef>
          </c:tx>
          <c:spPr>
            <a:solidFill>
              <a:srgbClr val="1B32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2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4A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9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325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8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4A7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A951"/>
              </a:solidFill>
              <a:effectLst/>
            </c:spPr>
          </c:dPt>
          <c:cat>
            <c:strRef>
              <c:f>Sheet1!$A$2:$A$9</c:f>
              <c:strCache>
                <c:ptCount val="8"/>
                <c:pt idx="0">
                  <c:v>議事録作成</c:v>
                </c:pt>
                <c:pt idx="1">
                  <c:v>経費精算</c:v>
                </c:pt>
                <c:pt idx="2">
                  <c:v>在庫管理</c:v>
                </c:pt>
                <c:pt idx="3">
                  <c:v>受注処理</c:v>
                </c:pt>
                <c:pt idx="4">
                  <c:v>請求書発行</c:v>
                </c:pt>
                <c:pt idx="5">
                  <c:v>勤怠集計</c:v>
                </c:pt>
                <c:pt idx="6">
                  <c:v>レポート作成</c:v>
                </c:pt>
                <c:pt idx="7">
                  <c:v>顧客対応記録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</c:v>
                </c:pt>
                <c:pt idx="1">
                  <c:v>88</c:v>
                </c:pt>
                <c:pt idx="2">
                  <c:v>85</c:v>
                </c:pt>
                <c:pt idx="3">
                  <c:v>82</c:v>
                </c:pt>
                <c:pt idx="4">
                  <c:v>78</c:v>
                </c:pt>
                <c:pt idx="5">
                  <c:v>75</c:v>
                </c:pt>
                <c:pt idx="6">
                  <c:v>70</c:v>
                </c:pt>
                <c:pt idx="7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2E"/>
                  </a:solidFill>
                  <a:latin typeface="Arial"/>
                  <a:ea typeface="Yu Gothic UI"/>
                  <a:cs typeface="Yu Gothic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売上構成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254"/>
              </a:solidFill>
              <a:effectLst/>
            </c:spPr>
          </c:dPt>
          <c:dPt>
            <c:idx val="1"/>
            <c:bubble3D val="0"/>
            <c:spPr>
              <a:solidFill>
                <a:srgbClr val="2E7D8E"/>
              </a:solidFill>
              <a:effectLst/>
            </c:spPr>
          </c:dPt>
          <c:dPt>
            <c:idx val="2"/>
            <c:bubble3D val="0"/>
            <c:spPr>
              <a:solidFill>
                <a:srgbClr val="2A4A75"/>
              </a:solidFill>
              <a:effectLst/>
            </c:spPr>
          </c:dPt>
          <c:dPt>
            <c:idx val="3"/>
            <c:bubble3D val="0"/>
            <c:spPr>
              <a:solidFill>
                <a:srgbClr val="C8A951"/>
              </a:solidFill>
              <a:effectLst/>
            </c:spPr>
          </c:dPt>
          <c:dPt>
            <c:idx val="4"/>
            <c:bubble3D val="0"/>
            <c:spPr>
              <a:solidFill>
                <a:srgbClr val="A8C8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  <a:ea typeface="Yu Gothic UI"/>
                      <a:cs typeface="Yu Gothic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  <a:ea typeface="Yu Gothic UI"/>
                      <a:cs typeface="Yu Gothic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  <a:ea typeface="Yu Gothic UI"/>
                      <a:cs typeface="Yu Gothic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  <a:ea typeface="Yu Gothic UI"/>
                      <a:cs typeface="Yu Gothic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  <a:ea typeface="Yu Gothic UI"/>
                      <a:cs typeface="Yu Gothic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サブスク</c:v>
                </c:pt>
                <c:pt idx="1">
                  <c:v>コンサル</c:v>
                </c:pt>
                <c:pt idx="2">
                  <c:v>受託開発</c:v>
                </c:pt>
                <c:pt idx="3">
                  <c:v>保守運用</c:v>
                </c:pt>
                <c:pt idx="4">
                  <c:v>その他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</c:v>
                </c:pt>
                <c:pt idx="1">
                  <c:v>25</c:v>
                </c:pt>
                <c:pt idx="2">
                  <c:v>18</c:v>
                </c:pt>
                <c:pt idx="3">
                  <c:v>12</c:v>
                </c:pt>
                <c:pt idx="4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四半期別売上</c:v>
                </c:pt>
              </c:strCache>
            </c:strRef>
          </c:tx>
          <c:spPr>
            <a:solidFill>
              <a:srgbClr val="1B32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2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4A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95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325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8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4A7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A951"/>
              </a:solidFill>
              <a:effectLst/>
            </c:spPr>
          </c:dPt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</c:v>
                </c:pt>
                <c:pt idx="1">
                  <c:v>58</c:v>
                </c:pt>
                <c:pt idx="2">
                  <c:v>71</c:v>
                </c:pt>
                <c:pt idx="3">
                  <c:v>65</c:v>
                </c:pt>
                <c:pt idx="4">
                  <c:v>83</c:v>
                </c:pt>
                <c:pt idx="5">
                  <c:v>91</c:v>
                </c:pt>
                <c:pt idx="6">
                  <c:v>88</c:v>
                </c:pt>
                <c:pt idx="7">
                  <c:v>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2E"/>
                  </a:solidFill>
                  <a:latin typeface="Arial"/>
                  <a:ea typeface="Yu Gothic UI"/>
                  <a:cs typeface="Yu Gothic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顧客満足度 (CSAT)</c:v>
                </c:pt>
              </c:strCache>
            </c:strRef>
          </c:tx>
          <c:spPr>
            <a:solidFill>
              <a:srgbClr val="1B3254"/>
            </a:solidFill>
            <a:ln w="38100" cap="flat">
              <a:solidFill>
                <a:srgbClr val="1B32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3254"/>
              </a:solidFill>
              <a:ln w="9525" cap="flat">
                <a:solidFill>
                  <a:srgbClr val="1B3254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</c:v>
                </c:pt>
                <c:pt idx="1">
                  <c:v>74</c:v>
                </c:pt>
                <c:pt idx="2">
                  <c:v>69</c:v>
                </c:pt>
                <c:pt idx="3">
                  <c:v>77</c:v>
                </c:pt>
                <c:pt idx="4">
                  <c:v>81</c:v>
                </c:pt>
                <c:pt idx="5">
                  <c:v>79</c:v>
                </c:pt>
                <c:pt idx="6">
                  <c:v>85</c:v>
                </c:pt>
                <c:pt idx="7">
                  <c:v>88</c:v>
                </c:pt>
                <c:pt idx="8">
                  <c:v>86</c:v>
                </c:pt>
                <c:pt idx="9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解約率 (%)</c:v>
                </c:pt>
              </c:strCache>
            </c:strRef>
          </c:tx>
          <c:spPr>
            <a:solidFill>
              <a:srgbClr val="2E7D8E"/>
            </a:solidFill>
            <a:ln w="38100" cap="flat">
              <a:solidFill>
                <a:srgbClr val="2E7D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8E"/>
              </a:solidFill>
              <a:ln w="9525" cap="flat">
                <a:solidFill>
                  <a:srgbClr val="2E7D8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5.2</c:v>
                </c:pt>
                <c:pt idx="1">
                  <c:v>4.8</c:v>
                </c:pt>
                <c:pt idx="2">
                  <c:v>5.5</c:v>
                </c:pt>
                <c:pt idx="3">
                  <c:v>4.1</c:v>
                </c:pt>
                <c:pt idx="4">
                  <c:v>3.8</c:v>
                </c:pt>
                <c:pt idx="5">
                  <c:v>3.5</c:v>
                </c:pt>
                <c:pt idx="6">
                  <c:v>2.9</c:v>
                </c:pt>
                <c:pt idx="7">
                  <c:v>2.6</c:v>
                </c:pt>
                <c:pt idx="8">
                  <c:v>2.4</c:v>
                </c:pt>
                <c:pt idx="9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2E"/>
                  </a:solidFill>
                  <a:latin typeface="Arial"/>
                  <a:ea typeface="Yu Gothic UI"/>
                  <a:cs typeface="Yu Gothic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クラウド事業</c:v>
                </c:pt>
              </c:strCache>
            </c:strRef>
          </c:tx>
          <c:spPr>
            <a:solidFill>
              <a:srgbClr val="1B32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145</c:v>
                </c:pt>
                <c:pt idx="2">
                  <c:v>180</c:v>
                </c:pt>
                <c:pt idx="3">
                  <c:v>220</c:v>
                </c:pt>
                <c:pt idx="4">
                  <c:v>270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データ分析事業</c:v>
                </c:pt>
              </c:strCache>
            </c:strRef>
          </c:tx>
          <c:spPr>
            <a:solidFill>
              <a:srgbClr val="2E7D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100</c:v>
                </c:pt>
                <c:pt idx="2">
                  <c:v>130</c:v>
                </c:pt>
                <c:pt idx="3">
                  <c:v>165</c:v>
                </c:pt>
                <c:pt idx="4">
                  <c:v>210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自動化事業</c:v>
                </c:pt>
              </c:strCache>
            </c:strRef>
          </c:tx>
          <c:spPr>
            <a:solidFill>
              <a:srgbClr val="2A4A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</c:v>
                </c:pt>
                <c:pt idx="1">
                  <c:v>55</c:v>
                </c:pt>
                <c:pt idx="2">
                  <c:v>75</c:v>
                </c:pt>
                <c:pt idx="3">
                  <c:v>95</c:v>
                </c:pt>
                <c:pt idx="4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2E"/>
                  </a:solidFill>
                  <a:latin typeface="Arial"/>
                  <a:ea typeface="Yu Gothic UI"/>
                  <a:cs typeface="Yu Gothic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エンタープライズ</c:v>
                </c:pt>
              </c:strCache>
            </c:strRef>
          </c:tx>
          <c:spPr>
            <a:solidFill>
              <a:srgbClr val="1B32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55</c:v>
                </c:pt>
                <c:pt idx="2">
                  <c:v>50</c:v>
                </c:pt>
                <c:pt idx="3">
                  <c:v>45</c:v>
                </c:pt>
                <c:pt idx="4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2E7D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33</c:v>
                </c:pt>
                <c:pt idx="2">
                  <c:v>36</c:v>
                </c:pt>
                <c:pt idx="3">
                  <c:v>38</c:v>
                </c:pt>
                <c:pt idx="4">
                  <c:v>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スタートアップ</c:v>
                </c:pt>
              </c:strCache>
            </c:strRef>
          </c:tx>
          <c:spPr>
            <a:solidFill>
              <a:srgbClr val="2A4A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2E"/>
                    </a:solidFill>
                    <a:latin typeface="Arial"/>
                    <a:ea typeface="Yu Gothic UI"/>
                    <a:cs typeface="Yu Gothic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17</c:v>
                </c:pt>
                <c:pt idx="4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2E"/>
                  </a:solidFill>
                  <a:latin typeface="Arial"/>
                  <a:ea typeface="Yu Gothic UI"/>
                  <a:cs typeface="Yu Gothic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F6B"/>
                </a:solidFill>
                <a:latin typeface="Arial"/>
                <a:ea typeface="Yu Gothic UI"/>
                <a:cs typeface="Yu Gothic U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254">
              <a:alpha val="75000"/>
            </a:srgbClr>
          </a:solidFill>
          <a:ln w="12700">
            <a:solidFill>
              <a:srgbClr val="1B3254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全43テンプレートの使用例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スライドテンプレート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ショーケース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724912"/>
            <a:ext cx="3474720" cy="457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Creator　2026年4月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1B32"/>
          </a:solidFill>
          <a:ln w="12700">
            <a:solidFill>
              <a:srgbClr val="0A1B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691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Creator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566928" cy="48332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56692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932688"/>
            <a:ext cx="8065008" cy="48332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875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並列レイアウト系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167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horizontal3 / horizontal2 / beforeAfter / vertical / grid2x2 / grid3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489166"/>
            <a:ext cx="566928" cy="48332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89166"/>
            <a:ext cx="56692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1489166"/>
            <a:ext cx="8065008" cy="483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54403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87321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comparisonTable / itemComparison / scaleComparison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045643"/>
            <a:ext cx="566928" cy="48332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045643"/>
            <a:ext cx="56692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2045643"/>
            <a:ext cx="8065008" cy="48332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100507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429691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flowHorizontal / flowVertical / cyclicCircle / cyclicSquare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602121"/>
            <a:ext cx="566928" cy="48332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602121"/>
            <a:ext cx="56692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2602121"/>
            <a:ext cx="8065008" cy="483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656985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分析・構造系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2986169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matrix2x2 / vennDiagram / treeChart / containment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158599"/>
            <a:ext cx="566928" cy="48332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158599"/>
            <a:ext cx="56692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3158599"/>
            <a:ext cx="8065008" cy="48332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213463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階層・成長系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542647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/ invertedPyramid / staircase / timeline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715077"/>
            <a:ext cx="566928" cy="48332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715077"/>
            <a:ext cx="56692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3715077"/>
            <a:ext cx="8065008" cy="48332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3769941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グラフ・統計系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099125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 / lineChart / hBarChart / pieChart / bigStat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4271554"/>
            <a:ext cx="566928" cy="48332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4271554"/>
            <a:ext cx="566928" cy="48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2960" y="4271554"/>
            <a:ext cx="8065008" cy="48332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32641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ストーリー・特殊系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65560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caseStudy / quoteSlide / qaSlide / ranking / companyProfile / memberGrid / logoGrid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並列レイアウト系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情報を並べて比較・整理する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horizontal3 — 3列カード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743200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2743200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クラウド基盤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2.4億円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3192" y="2286000"/>
            <a:ext cx="2468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サーバー運用からセキュリティ対策まで。クラウドネイティブな環境構築をワンストップで提供。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987552"/>
            <a:ext cx="2743200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987552"/>
            <a:ext cx="2743200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データ分析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72968" y="1463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1.8億円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2468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蓄積された業務データを統合・可視化。意思決定をデータドリブンに変革するBIソリューション。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0448" y="987552"/>
            <a:ext cx="2743200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0448" y="987552"/>
            <a:ext cx="2743200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0176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業務自動化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0176" y="1463040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0.9億円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07608" y="2286000"/>
            <a:ext cx="2468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RPAとワークフロー自動化で定型業務を効率化。人的コストを最大65%削減。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3事業合計 売上 5.1億円（架空の数値です）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horizontal2 — 2列比較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3931920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3931920" cy="384048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従来の業務フロー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01168" cy="20116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90472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月1回のレポート更新（担当者が手作業）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201168" cy="20116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574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部門ごとにバラバラなツールで管理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201168" cy="20116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2432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感覚と経験に頼った意思決定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73552"/>
            <a:ext cx="201168" cy="201168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9125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外注依存で柔軟性が低い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960120"/>
            <a:ext cx="4590288" cy="3063240"/>
          </a:xfrm>
          <a:prstGeom prst="rect">
            <a:avLst/>
          </a:prstGeom>
          <a:solidFill>
            <a:srgbClr val="EAF5F8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960120"/>
            <a:ext cx="4590288" cy="38404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960120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導入後の業務フロー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07408" y="1572768"/>
            <a:ext cx="201168" cy="20116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490472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毎日自動でレポート生成・共有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7408" y="2139696"/>
            <a:ext cx="201168" cy="20116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05740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統合ダッシュボードで全社可視化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07408" y="2706624"/>
            <a:ext cx="201168" cy="20116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2624328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データ根拠の意思決定で ROI +35%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07408" y="3273552"/>
            <a:ext cx="201168" cy="201168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3191256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内製化で変更対応が迅速に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導入前後の比較（架空の事例データ）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beforeAfter — ビフォーアフター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3931920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3931920" cy="384048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導入前の課題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01168" cy="20116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90472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報告書作成に2週間+外注費30万円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201168" cy="20116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5740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在庫確認に担当者が週5時間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201168" cy="20116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2432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売上分析は月1回・手作業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73552"/>
            <a:ext cx="201168" cy="20116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9125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顧客対応のばらつきが大きい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33672" y="2217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828032" y="960120"/>
            <a:ext cx="4059936" cy="3063240"/>
          </a:xfrm>
          <a:prstGeom prst="rect">
            <a:avLst/>
          </a:prstGeom>
          <a:solidFill>
            <a:srgbClr val="EAF5F8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960120"/>
            <a:ext cx="4059936" cy="38404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960120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導入後（3ヶ月）の成果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572768"/>
            <a:ext cx="201168" cy="20116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1490472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報告書作成 1日・コスト85%削減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139696"/>
            <a:ext cx="201168" cy="20116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205740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在庫管理 完全自動化・リアルタイム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706624"/>
            <a:ext cx="201168" cy="20116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624328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売上分析 毎日自動レポートで確認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273552"/>
            <a:ext cx="201168" cy="20116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3191256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対応マニュアルの自動生成で品質統一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XXX株式会社 導入事例（架空）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— 縦並びカード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54498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402336" cy="54498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87552"/>
            <a:ext cx="402336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0424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要件定義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96512" y="1042416"/>
            <a:ext cx="48463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ヒアリングと現状分析を通じて、課題と目標を言語化。プロジェクト計画を策定する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605686"/>
            <a:ext cx="8631936" cy="54498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605686"/>
            <a:ext cx="402336" cy="54498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605686"/>
            <a:ext cx="402336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166055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設計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96512" y="1660550"/>
            <a:ext cx="48463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システム設計とUI/UXデザインを並行で進行。プロトタイプで認識を合わせる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223821"/>
            <a:ext cx="8631936" cy="54498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223821"/>
            <a:ext cx="402336" cy="54498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23821"/>
            <a:ext cx="402336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278685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開発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96512" y="2278685"/>
            <a:ext cx="48463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アジャイル開発で2週間スプリント。毎回のデモでフィードバックを反映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2841955"/>
            <a:ext cx="8631936" cy="54498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841955"/>
            <a:ext cx="402336" cy="54498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41955"/>
            <a:ext cx="402336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2896819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テスト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96512" y="2896819"/>
            <a:ext cx="48463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自動テスト+手動検証で品質を担保。セキュリティ診断も実施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3460090"/>
            <a:ext cx="8631936" cy="54498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460090"/>
            <a:ext cx="402336" cy="54498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460090"/>
            <a:ext cx="402336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351495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運用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96512" y="3514954"/>
            <a:ext cx="48463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本番リリース後も監視とメンテナンスを継続。月次レビューで改善を続ける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5ステップで完結するプロジェクトサイクル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grid2x2 — 2×2グリッド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069080" cy="1719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4069080" cy="34747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05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スピード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389888"/>
            <a:ext cx="3794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要件定義から初期リリースまで最短4週間。素早く仮説検証を回せる。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07992" y="1005840"/>
            <a:ext cx="4069080" cy="1719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005840"/>
            <a:ext cx="4069080" cy="34747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0058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品質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5152" y="1389888"/>
            <a:ext cx="3794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自動テストカバレッジ90%以上。すべてのリリースにQAプロセスを適用。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862072"/>
            <a:ext cx="4069080" cy="1719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862072"/>
            <a:ext cx="4069080" cy="34747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620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コスト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3246120"/>
            <a:ext cx="3794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自動化と効率化で開発コストを平均40%削減。長期的なTCOを最適化。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07992" y="2862072"/>
            <a:ext cx="4069080" cy="1719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07992" y="2862072"/>
            <a:ext cx="4069080" cy="34747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28620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拡張性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45152" y="3246120"/>
            <a:ext cx="37947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マイクロサービス設計でスケールアウトに対応。将来の要件変更にも柔軟。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4つの強み（架空データ）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grid3 — 3列カード（プラン例）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697480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2697480" cy="50292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14984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ベーシック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" y="1609344"/>
            <a:ext cx="255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10万円/月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" y="2340864"/>
            <a:ext cx="224028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243230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 0円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953512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基本機能一式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メールサポート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月次レポート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" y="373075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出典：12ヶ月契約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18104" y="987552"/>
            <a:ext cx="2697480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18104" y="987552"/>
            <a:ext cx="2697480" cy="50292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014984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プロフェッショナル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91256" y="1609344"/>
            <a:ext cx="255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30万円/月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46704" y="2340864"/>
            <a:ext cx="224028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243230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 15万円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27832" y="2953512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全機能利用可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優先サポート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週次レビュー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91256" y="373075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出典：最小6ヶ月契約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0176" y="987552"/>
            <a:ext cx="2697480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0176" y="987552"/>
            <a:ext cx="2697480" cy="50292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1014984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エンタープライズ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53328" y="1609344"/>
            <a:ext cx="255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応相談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08776" y="2340864"/>
            <a:ext cx="224028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2432304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要件に応じて設計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9904" y="2953512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カスタム開発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専任担当配置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月次経営会議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3328" y="3730752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出典：お問い合わせ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全プランに初月無料トライアル期間あり（架空の料金体系）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選択肢を構造的に見せる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comparisonTable — 比較表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87552"/>
          <a:ext cx="8631936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98192"/>
                <a:gridCol w="2298192"/>
                <a:gridCol w="22981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自社開発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大手SIer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2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当社サービス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初期費用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500〜1,000万円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200〜500万円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0〜50万円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導入期間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6〜12ヶ月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3〜6ヶ月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2〜4週間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カスタマイズ性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高（自社完結）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中（パッケージ依存）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高（API連携自在）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ランニングコスト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80〜150万円/月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40〜80万円/月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10〜30万円/月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サポート体制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自社対応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平日9-17時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24時間対応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同等機能を前提としたコスト比較（架空データ）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itemComparison — 機能比較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560320" cy="437606"/>
          </a:xfrm>
          <a:prstGeom prst="rect">
            <a:avLst/>
          </a:prstGeom>
          <a:solidFill>
            <a:srgbClr val="EEF1F6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6352" y="1005840"/>
            <a:ext cx="2023872" cy="43760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1005840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0224" y="1005840"/>
            <a:ext cx="2023872" cy="437606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0224" y="1005840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64096" y="1005840"/>
            <a:ext cx="2023872" cy="437606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4096" y="1005840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443446"/>
            <a:ext cx="2560320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43446"/>
            <a:ext cx="237744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ダッシュボード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16352" y="1443446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1443446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0224" y="1443446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0224" y="1443446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64096" y="1443446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4096" y="1443446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1881051"/>
            <a:ext cx="2560320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81051"/>
            <a:ext cx="237744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API連携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16352" y="1881051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1881051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0224" y="1881051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0224" y="1881051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64096" y="1881051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4096" y="1881051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2318657"/>
            <a:ext cx="2560320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318657"/>
            <a:ext cx="237744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モバイル対応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16352" y="2318657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2318657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0224" y="2318657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0224" y="2318657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64096" y="2318657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4096" y="2318657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" y="2756263"/>
            <a:ext cx="2560320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756263"/>
            <a:ext cx="237744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リアルタイム分析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16352" y="2756263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2756263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0224" y="2756263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0224" y="2756263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64096" y="2756263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4096" y="2756263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6032" y="3193869"/>
            <a:ext cx="2560320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193869"/>
            <a:ext cx="237744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カスタムレポート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816352" y="3193869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16352" y="3193869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40224" y="3193869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0224" y="3193869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64096" y="3193869"/>
            <a:ext cx="2023872" cy="43760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4096" y="3193869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6032" y="3631474"/>
            <a:ext cx="2560320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631474"/>
            <a:ext cx="2377440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多言語対応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816352" y="3631474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16352" y="3631474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40224" y="3631474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0224" y="3631474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64096" y="3631474"/>
            <a:ext cx="2023872" cy="43760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64096" y="3631474"/>
            <a:ext cx="2023872" cy="437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◎=フル対応 / ○=部分対応 / —=非対応（架空の比較データ）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scaleComparison — スケール比較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9730" y="1787772"/>
            <a:ext cx="1510589" cy="1362336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330572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65万円/月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321137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A社（大手SIer）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3595421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実績豊富・導入に時間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37714" y="2563256"/>
            <a:ext cx="1510589" cy="58685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14016" y="2106056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28万円/月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14016" y="321137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B社（スタートアップ）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14016" y="3595421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スピード重視・サポート薄い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5698" y="2898600"/>
            <a:ext cx="1510589" cy="251508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441400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12万円/月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21137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当社サービス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595421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バランスの良い構成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53682" y="1159002"/>
            <a:ext cx="1510589" cy="199110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9984" y="701802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95万円/月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9984" y="3211373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自社開発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3595421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採用・管理コスト含む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同等機能を前提とした月額コスト比較（架空データ）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プロセスを図解する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flowHorizontal — 横型フロー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737360"/>
            <a:ext cx="1397203" cy="109728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810512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ヒアリング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2286000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課題・目標を確認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53235" y="20848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64715" y="1737360"/>
            <a:ext cx="1397203" cy="109728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64715" y="1810512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設計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64715" y="2286000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システム構成策定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61918" y="20848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873398" y="1737360"/>
            <a:ext cx="1397203" cy="109728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73398" y="1810512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開発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73398" y="2286000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アジャイル実装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70602" y="20848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82082" y="1737360"/>
            <a:ext cx="1397203" cy="109728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82082" y="1810512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テスト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82082" y="2286000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品質・安全検証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79285" y="20848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490765" y="1737360"/>
            <a:ext cx="1397203" cy="109728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0765" y="1810512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運用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0765" y="2286000"/>
            <a:ext cx="13972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監視・改善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各フェーズの所要期間は規模に応じて変動します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flowVertical — 縦型フロー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475488" cy="57607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87552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2743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30752" y="1042416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業務フロー全体を可視化し、自動化可能な工程を特定する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636776"/>
            <a:ext cx="8631936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636776"/>
            <a:ext cx="475488" cy="57607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636776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2743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優先順位付け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0752" y="1691640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× 実現難易度のマトリクスで着手順を決定する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286000"/>
            <a:ext cx="8631936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286000"/>
            <a:ext cx="475488" cy="57607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86000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340864"/>
            <a:ext cx="2743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設計・構築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30752" y="2340864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ワークフローを設計し、自動化ツールを構築する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35224"/>
            <a:ext cx="8631936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935224"/>
            <a:ext cx="475488" cy="57607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935224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2990088"/>
            <a:ext cx="2743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テスト運用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30752" y="2990088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小規模チームで試験導入。フィードバックを収集する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584448"/>
            <a:ext cx="8631936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584448"/>
            <a:ext cx="475488" cy="57607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84448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639312"/>
            <a:ext cx="2743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全社展開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30752" y="3639312"/>
            <a:ext cx="5212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成果を検証した上で、段階的に全社展開する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業務自動化プロジェクトの典型的な進め方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cyclicCircle — 円形サイクル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069080" y="822960"/>
            <a:ext cx="1005840" cy="10058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9080" y="822960"/>
            <a:ext cx="1005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9080" y="1275588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95859" y="1387489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4846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KPI設定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86585" y="1707529"/>
            <a:ext cx="1005840" cy="1005840"/>
          </a:xfrm>
          <a:prstGeom prst="ellipse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86585" y="1707529"/>
            <a:ext cx="1005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86585" y="2160157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60905" y="2818751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5297" y="1811485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施策を展開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21539" y="3138791"/>
            <a:ext cx="1005840" cy="1005840"/>
          </a:xfrm>
          <a:prstGeom prst="ellipse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1539" y="3138791"/>
            <a:ext cx="1005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1539" y="3591419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4340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7729" y="3958379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データ収集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6621" y="3138791"/>
            <a:ext cx="1005840" cy="1005840"/>
          </a:xfrm>
          <a:prstGeom prst="ellipse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6621" y="3138791"/>
            <a:ext cx="1005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16621" y="3591419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25895" y="2818751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20351" y="3958379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効果検証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51575" y="1707529"/>
            <a:ext cx="1005840" cy="1005840"/>
          </a:xfrm>
          <a:prstGeom prst="ellipse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51575" y="1707529"/>
            <a:ext cx="10058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51575" y="2160157"/>
            <a:ext cx="10058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90941" y="1387489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2783" y="1811485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施策を修正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PDCAサイクルを週次で高速回転。従来の月次サイクルを4倍に加速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cyclicSquare — 4象限サイクル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3108960" cy="128016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1155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市場理解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競合・トレンド調査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10712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22192" y="1024128"/>
            <a:ext cx="3108960" cy="128016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22192" y="11155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コンテンツ生成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13632" y="16459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記事・LP・SNS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22192" y="2761488"/>
            <a:ext cx="3108960" cy="128016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22192" y="28529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効果計測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13632" y="33832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アクセス・CVR分析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" y="2761488"/>
            <a:ext cx="3108960" cy="128016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" y="28529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戦略更新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" y="33832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次サイクルへ反映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自動化する部分と人が判断する部分を明確に分けた4ステップ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分析・構造系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関係性と構造を可視化する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matrix2x2 — 4象限マトリクス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261104" cy="147675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4261104" cy="34747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大型ERP導入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408176"/>
            <a:ext cx="398678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高効果・高コスト。大企業向けの全社統合型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26864" y="1005840"/>
            <a:ext cx="4261104" cy="1476756"/>
          </a:xfrm>
          <a:prstGeom prst="rect">
            <a:avLst/>
          </a:prstGeom>
          <a:solidFill>
            <a:srgbClr val="EAF5F8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1005840"/>
            <a:ext cx="4261104" cy="34747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00584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SaaSツール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4024" y="1408176"/>
            <a:ext cx="398678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高効果・低コスト。中小企業のベストチョイス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2592324"/>
            <a:ext cx="4261104" cy="147675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592324"/>
            <a:ext cx="4261104" cy="34747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9232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カスタム開発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2994660"/>
            <a:ext cx="398678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低効果・高コスト。要件が曖昧なまま着手するリスク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2592324"/>
            <a:ext cx="4261104" cy="147675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592324"/>
            <a:ext cx="4261104" cy="34747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59232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スプレッドシート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4024" y="2994660"/>
            <a:ext cx="398678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低効果・低コスト。初期段階の応急処置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" y="412394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導入コスト（高い → 低い）→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自社に最適なソリューションを選定するためのフレームワーク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vennDiagram — ベン図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37560" y="338328"/>
            <a:ext cx="2468880" cy="2468880"/>
          </a:xfrm>
          <a:prstGeom prst="ellipse">
            <a:avLst/>
          </a:prstGeom>
          <a:solidFill>
            <a:srgbClr val="1B3254">
              <a:alpha val="55000"/>
            </a:srgbClr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371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892808"/>
            <a:ext cx="2468880" cy="2468880"/>
          </a:xfrm>
          <a:prstGeom prst="ellipse">
            <a:avLst/>
          </a:prstGeom>
          <a:solidFill>
            <a:srgbClr val="2E7D8E">
              <a:alpha val="55000"/>
            </a:srgbClr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9260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業務知見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892808"/>
            <a:ext cx="2468880" cy="2468880"/>
          </a:xfrm>
          <a:prstGeom prst="ellipse">
            <a:avLst/>
          </a:prstGeom>
          <a:solidFill>
            <a:srgbClr val="2A4A75">
              <a:alpha val="55000"/>
            </a:srgbClr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9260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理想の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3領域すべてをカバーすることで、使いやすく・実用的なプロダクトを実現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treeChart — ツリー図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2148840"/>
            <a:ext cx="2011680" cy="54864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67712" y="2423160"/>
            <a:ext cx="475488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0048" y="2423160"/>
            <a:ext cx="0" cy="-70866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0048" y="1714500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463040"/>
            <a:ext cx="1828800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714500"/>
            <a:ext cx="6400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7216" y="1714500"/>
            <a:ext cx="0" cy="-310896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57216" y="1403604"/>
            <a:ext cx="54864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184148"/>
            <a:ext cx="3474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184148"/>
            <a:ext cx="54864" cy="438912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1841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法人営業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714500"/>
            <a:ext cx="6400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57216" y="1714500"/>
            <a:ext cx="0" cy="219456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57216" y="1933956"/>
            <a:ext cx="54864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714500"/>
            <a:ext cx="3474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714500"/>
            <a:ext cx="54864" cy="438912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17145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個人営業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67712" y="2423160"/>
            <a:ext cx="475488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70048" y="2423160"/>
            <a:ext cx="0" cy="-6858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70048" y="2354580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2103120"/>
            <a:ext cx="1828800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354580"/>
            <a:ext cx="6400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57216" y="2354580"/>
            <a:ext cx="0" cy="-310896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2043684"/>
            <a:ext cx="54864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1824228"/>
            <a:ext cx="3474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1824228"/>
            <a:ext cx="54864" cy="438912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0096" y="18242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2354580"/>
            <a:ext cx="6400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57216" y="2354580"/>
            <a:ext cx="0" cy="219456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57216" y="2574036"/>
            <a:ext cx="54864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080" y="2354580"/>
            <a:ext cx="3474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12080" y="2354580"/>
            <a:ext cx="54864" cy="438912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0096" y="23545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67712" y="2423160"/>
            <a:ext cx="475488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70048" y="2423160"/>
            <a:ext cx="0" cy="57150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70048" y="2994660"/>
            <a:ext cx="73152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0" y="2743200"/>
            <a:ext cx="1828800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管理部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0" y="2994660"/>
            <a:ext cx="6400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57216" y="2994660"/>
            <a:ext cx="0" cy="-310896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57216" y="2683764"/>
            <a:ext cx="54864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2464308"/>
            <a:ext cx="3474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12080" y="2464308"/>
            <a:ext cx="54864" cy="438912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0096" y="24643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人事・総務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2994660"/>
            <a:ext cx="6400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57216" y="2994660"/>
            <a:ext cx="0" cy="219456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57216" y="3214116"/>
            <a:ext cx="54864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12080" y="2994660"/>
            <a:ext cx="34747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12080" y="2994660"/>
            <a:ext cx="54864" cy="438912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40096" y="29946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経理・財務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組織構造のツリー表現（架空の会社）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— 包含関係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631936" cy="3063240"/>
          </a:xfrm>
          <a:prstGeom prst="rect">
            <a:avLst/>
          </a:prstGeom>
          <a:solidFill>
            <a:srgbClr val="1B3254">
              <a:alpha val="15000"/>
            </a:srgbClr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97280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国内SaaS市場（全体）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" y="1499616"/>
            <a:ext cx="2657856" cy="240487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" y="1591056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エンタープライズ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121408"/>
            <a:ext cx="243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大企業向け。高機能・高単価。市場の約30%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3072" y="1499616"/>
            <a:ext cx="2657856" cy="240487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3072" y="1591056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SMB向け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2800" y="2121408"/>
            <a:ext cx="243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中小企業向け。手頃・導入しやすい。成長市場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65520" y="1499616"/>
            <a:ext cx="2657856" cy="2404872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65520" y="1591056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未デジタル化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5248" y="2121408"/>
            <a:ext cx="243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約50%が未着手。巨大なポテンシャル市場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市場構造の概観（架空の推計データ）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階層・成長系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優先順位と成長ステップを見せる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— ピラミッド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0" y="1005840"/>
            <a:ext cx="1645920" cy="557784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1005840"/>
            <a:ext cx="164592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342796"/>
            <a:ext cx="164592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業界の課題を解決する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618488"/>
            <a:ext cx="3291840" cy="55778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618488"/>
            <a:ext cx="329184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ミッション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955444"/>
            <a:ext cx="329184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テクノロジーで業務を変革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2231136"/>
            <a:ext cx="4937760" cy="557784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231136"/>
            <a:ext cx="493776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568092"/>
            <a:ext cx="49377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プロダクト主導の成長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80160" y="2843784"/>
            <a:ext cx="6583680" cy="557784"/>
          </a:xfrm>
          <a:prstGeom prst="rect">
            <a:avLst/>
          </a:prstGeom>
          <a:solidFill>
            <a:srgbClr val="7BB8C8"/>
          </a:solidFill>
          <a:ln w="12700">
            <a:solidFill>
              <a:srgbClr val="7BB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843784"/>
            <a:ext cx="658368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戦術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180740"/>
            <a:ext cx="658368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PMFの確立と拡販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56432"/>
            <a:ext cx="8229600" cy="557784"/>
          </a:xfrm>
          <a:prstGeom prst="rect">
            <a:avLst/>
          </a:prstGeom>
          <a:solidFill>
            <a:srgbClr val="AACCD8"/>
          </a:solidFill>
          <a:ln w="12700">
            <a:solidFill>
              <a:srgbClr val="AACC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56432"/>
            <a:ext cx="822960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93388"/>
            <a:ext cx="822960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日次の開発と改善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上位概念ほど小さく揺るぎなく、下位ほど広く変化に対応する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invertedPyramid — 逆ピラミッド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57784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課題発見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42796"/>
            <a:ext cx="822960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顧客の真の問題を広く探索する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1618488"/>
            <a:ext cx="6583680" cy="55778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18488"/>
            <a:ext cx="658368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仮説構築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55444"/>
            <a:ext cx="658368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解決策の候補を優先順位付けして絞る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2231136"/>
            <a:ext cx="4937760" cy="557784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231136"/>
            <a:ext cx="493776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施策設計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568092"/>
            <a:ext cx="49377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実行可能な形に具体化する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843784"/>
            <a:ext cx="3291840" cy="557784"/>
          </a:xfrm>
          <a:prstGeom prst="rect">
            <a:avLst/>
          </a:prstGeom>
          <a:solidFill>
            <a:srgbClr val="7BB8C8"/>
          </a:solidFill>
          <a:ln w="12700">
            <a:solidFill>
              <a:srgbClr val="7BB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843784"/>
            <a:ext cx="329184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180740"/>
            <a:ext cx="329184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PDCAを高速で回す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3456432"/>
            <a:ext cx="1645920" cy="557784"/>
          </a:xfrm>
          <a:prstGeom prst="rect">
            <a:avLst/>
          </a:prstGeom>
          <a:solidFill>
            <a:srgbClr val="AACCD8"/>
          </a:solidFill>
          <a:ln w="12700">
            <a:solidFill>
              <a:srgbClr val="AACC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456432"/>
            <a:ext cx="1645920" cy="3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3793388"/>
            <a:ext cx="164592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KPI達成で次の課題へ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上流の「課題発見」が広いほど、良い成果に収束する逆三角形の思考法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staircase — 階段型フロー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3456432"/>
            <a:ext cx="1653235" cy="612648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3593592"/>
            <a:ext cx="1653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1年目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82419" y="2843784"/>
            <a:ext cx="1653235" cy="1225296"/>
          </a:xfrm>
          <a:prstGeom prst="rect">
            <a:avLst/>
          </a:prstGeom>
          <a:solidFill>
            <a:srgbClr val="4A8FA8"/>
          </a:solidFill>
          <a:ln w="12700">
            <a:solidFill>
              <a:srgbClr val="4A8F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82419" y="2980944"/>
            <a:ext cx="1653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82419" y="3502152"/>
            <a:ext cx="16532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PMF確立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チーム拡大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08806" y="2231136"/>
            <a:ext cx="1653235" cy="183794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8806" y="2368296"/>
            <a:ext cx="1653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3年目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8806" y="2889504"/>
            <a:ext cx="165323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事業拡大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新機能追加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35194" y="1618488"/>
            <a:ext cx="1653235" cy="2450592"/>
          </a:xfrm>
          <a:prstGeom prst="rect">
            <a:avLst/>
          </a:prstGeom>
          <a:solidFill>
            <a:srgbClr val="1A9070"/>
          </a:solidFill>
          <a:ln w="12700">
            <a:solidFill>
              <a:srgbClr val="1A9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35194" y="1755648"/>
            <a:ext cx="1653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4年目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35194" y="2276856"/>
            <a:ext cx="1653235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海外展開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パートナー拡充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61581" y="1005840"/>
            <a:ext cx="1653235" cy="3063240"/>
          </a:xfrm>
          <a:prstGeom prst="rect">
            <a:avLst/>
          </a:prstGeom>
          <a:solidFill>
            <a:srgbClr val="0D6A50"/>
          </a:solidFill>
          <a:ln w="12700">
            <a:solidFill>
              <a:srgbClr val="0D6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61581" y="1143000"/>
            <a:ext cx="1653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5年目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61581" y="1664208"/>
            <a:ext cx="165323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プラットフォーム化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段階的に事業を積み上げる5カ年ロードマップ（架空）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タイムライン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2432304"/>
            <a:ext cx="8631936" cy="7315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912" y="2313432"/>
            <a:ext cx="310896" cy="310896"/>
          </a:xfrm>
          <a:prstGeom prst="ellipse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430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" y="137160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1664208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プロダクト構想開始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2848" y="2267712"/>
            <a:ext cx="402336" cy="402336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0408" y="27432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β版で初期検証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40408" y="29718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40408" y="320040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MVP完成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97224" y="2313432"/>
            <a:ext cx="310896" cy="310896"/>
          </a:xfrm>
          <a:prstGeom prst="ellipse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9064" y="11430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79064" y="137160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正式リリース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9064" y="1664208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法人向けに提供開始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35880" y="2313432"/>
            <a:ext cx="310896" cy="310896"/>
          </a:xfrm>
          <a:prstGeom prst="ellipse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7432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大手企業も導入開始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29718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320040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顧客100社突破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28816" y="2267712"/>
            <a:ext cx="402336" cy="402336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6376" y="11430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56376" y="137160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資金調達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56376" y="1664208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シリーズA完了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13192" y="2313432"/>
            <a:ext cx="310896" cy="310896"/>
          </a:xfrm>
          <a:prstGeom prst="ellipse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5032" y="27432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アジア市場に参入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5032" y="2971800"/>
            <a:ext cx="134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5032" y="3200400"/>
            <a:ext cx="134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海外展開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創業から5年で海外展開へ（架空の沿革）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グラフ・統計系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データを視覚化する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barChartSlide — 縦棒グラフ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987552"/>
          <a:ext cx="8631936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8年間の売上推移。年平均成長率（CAGR）約28%で推移（架空データ）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lineChartSlide — 折れ線グラフ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987552"/>
          <a:ext cx="8631936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月別の顧客獲得・解約推移。解約率 1.2%（架空データ）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hBarChartSlide — 横棒グラフ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987552"/>
          <a:ext cx="8631936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業務カテゴリ別の自動化による時間削減率（架空データ）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pieChartSlide — 円グラフ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371600" y="987552"/>
          <a:ext cx="6400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売上構成比。サブスクリプション型が全体の42%を占める（架空データ）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bigStat — 大数字カード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85872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73152" cy="306324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508760"/>
            <a:ext cx="2548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20624" y="3017520"/>
            <a:ext cx="254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顧客継続率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3493008"/>
            <a:ext cx="254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業界平均 78%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9064" y="1005840"/>
            <a:ext cx="2785872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9064" y="1005840"/>
            <a:ext cx="73152" cy="306324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3656" y="1508760"/>
            <a:ext cx="2548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343656" y="3017520"/>
            <a:ext cx="254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平均ROI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43656" y="3493008"/>
            <a:ext cx="254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導入から6ヶ月後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2096" y="1005840"/>
            <a:ext cx="2785872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2096" y="1005840"/>
            <a:ext cx="73152" cy="306324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6688" y="1508760"/>
            <a:ext cx="2548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14日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266688" y="3017520"/>
            <a:ext cx="254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初期導入期間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6688" y="3493008"/>
            <a:ext cx="2548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業界標準 45〜60日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すべて架空の実績数値です。実際の導入効果は案件により異なります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ストーリー・特殊系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個性と説得力を出すスライドタイプ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caseStudy — 事例スライド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47548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87552"/>
            <a:ext cx="8266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XXX株式会社（架空の製造業）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" y="1554480"/>
            <a:ext cx="2828544" cy="2423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54480"/>
            <a:ext cx="2828544" cy="384048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011680"/>
            <a:ext cx="2554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複数の外注先にバラバラに業務委託。品質がブレ、納期が遅れがち。担当者の工数が逼迫。月間外注費50万円が経営を圧迫していた。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7728" y="1554480"/>
            <a:ext cx="2828544" cy="2423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7728" y="1554480"/>
            <a:ext cx="2828544" cy="38404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7456" y="155448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4888" y="2011680"/>
            <a:ext cx="2554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業務プロセスを統合管理ツールで一元化。ワークフロー自動化で定型作業を削減。全工程を週次レビューで改善。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9424" y="1554480"/>
            <a:ext cx="2828544" cy="2423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9424" y="1554480"/>
            <a:ext cx="2828544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9152" y="155448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6584" y="2011680"/>
            <a:ext cx="25542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外注コスト ▲60%（50万→20万円/月）。業務効率 +35%。担当者工数 週12h削減。顧客満足度 4.7/5.0。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すべて架空の事例データです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457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テクノロジーは仕事を奪うのではなく、人が「本当にやるべき仕事」に集中できる環境をつくる手段だ。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2286000" cy="36576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山田 太郎　株式会社〇〇 代表取締役（架空）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qaSlide — Q&amp;A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631936" cy="67437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05840"/>
            <a:ext cx="438912" cy="32369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05840"/>
            <a:ext cx="438912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042416"/>
            <a:ext cx="7955280" cy="29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セキュリティは大丈夫ですか？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356512"/>
            <a:ext cx="438912" cy="296723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356512"/>
            <a:ext cx="438912" cy="29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1393088"/>
            <a:ext cx="7955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Type II取得済み。データは暗号化され、外部に漏洩しない設計です。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771650"/>
            <a:ext cx="8631936" cy="67437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71650"/>
            <a:ext cx="438912" cy="32369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771650"/>
            <a:ext cx="438912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1808226"/>
            <a:ext cx="7955280" cy="29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カスタマイズはどこまで可能ですか？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2122322"/>
            <a:ext cx="438912" cy="296723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122322"/>
            <a:ext cx="438912" cy="29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" y="2158898"/>
            <a:ext cx="7955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APIを通じて自由に連携可能です。専門チームがサポートします。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537460"/>
            <a:ext cx="8631936" cy="67437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537460"/>
            <a:ext cx="438912" cy="32369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537460"/>
            <a:ext cx="438912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" y="2574036"/>
            <a:ext cx="7955280" cy="29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効果が出るまでどのくらいかかりますか？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2888132"/>
            <a:ext cx="438912" cy="296723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888132"/>
            <a:ext cx="438912" cy="29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" y="2924708"/>
            <a:ext cx="7955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基本機能は2週間で導入完了。3ヶ月で効果を実感いただけます。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303270"/>
            <a:ext cx="8631936" cy="67437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303270"/>
            <a:ext cx="438912" cy="32369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303270"/>
            <a:ext cx="438912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6384" y="3339846"/>
            <a:ext cx="7955280" cy="29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解約はいつでもできますか？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" y="3653942"/>
            <a:ext cx="438912" cy="296723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653942"/>
            <a:ext cx="438912" cy="296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86384" y="3690518"/>
            <a:ext cx="79552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ベーシックプランは月単位で解約可能。中途解約手数料はありません。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ご質問があれば、お気軽にお問い合わせください（info@example.com）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— ランキング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631936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05840"/>
            <a:ext cx="548640" cy="539496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05840"/>
            <a:ext cx="548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502920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導入のしやすさ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50386"/>
            <a:ext cx="5029200" cy="13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既存システムとの連携がスムーズ。API連携で最短2週間で導入完了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618488"/>
            <a:ext cx="8631936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618488"/>
            <a:ext cx="548640" cy="53949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618488"/>
            <a:ext cx="548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664208"/>
            <a:ext cx="502920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圧倒的なコスパ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963034"/>
            <a:ext cx="5029200" cy="13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同等機能の競合比で月額費用を50%以上削減。ROIが最も高い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231136"/>
            <a:ext cx="8631936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231136"/>
            <a:ext cx="548640" cy="539496"/>
          </a:xfrm>
          <a:prstGeom prst="rect">
            <a:avLst/>
          </a:prstGeom>
          <a:solidFill>
            <a:srgbClr val="C47A3C"/>
          </a:solidFill>
          <a:ln w="12700">
            <a:solidFill>
              <a:srgbClr val="C47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31136"/>
            <a:ext cx="548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276856"/>
            <a:ext cx="502920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サポート体制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575682"/>
            <a:ext cx="5029200" cy="13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24時間対応のヘルプデスク。専任担当がつくので安心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843784"/>
            <a:ext cx="8631936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843784"/>
            <a:ext cx="548640" cy="539496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43784"/>
            <a:ext cx="548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889504"/>
            <a:ext cx="502920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188330"/>
            <a:ext cx="5029200" cy="13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SOC2/ISMS認証取得。金融機関も導入可能なセキュリティ水準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456432"/>
            <a:ext cx="8631936" cy="53949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456432"/>
            <a:ext cx="548640" cy="539496"/>
          </a:xfrm>
          <a:prstGeom prst="rect">
            <a:avLst/>
          </a:prstGeom>
          <a:solidFill>
            <a:srgbClr val="2A4A75"/>
          </a:solidFill>
          <a:ln w="12700">
            <a:solidFill>
              <a:srgbClr val="2A4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456432"/>
            <a:ext cx="548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502152"/>
            <a:ext cx="502920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実績と信頼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800978"/>
            <a:ext cx="5029200" cy="13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導入企業300社超。大手から中小まで幅広い実績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選ばれる5つの理由（架空のデータです）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463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〇〇テクノロジー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テクノロジーで、業務を変革する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868680"/>
            <a:ext cx="5120640" cy="6812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868680"/>
            <a:ext cx="54864" cy="68122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95344" y="896112"/>
            <a:ext cx="2011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896112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1641348"/>
            <a:ext cx="5120640" cy="6812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641348"/>
            <a:ext cx="54864" cy="68122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95344" y="1668780"/>
            <a:ext cx="2011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66878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山田 太郎（架空）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2414016"/>
            <a:ext cx="5120640" cy="6812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2414016"/>
            <a:ext cx="54864" cy="68122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2441448"/>
            <a:ext cx="2011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所在地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441448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東京都千代田区（架空）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3186684"/>
            <a:ext cx="5120640" cy="6812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186684"/>
            <a:ext cx="54864" cy="68122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5344" y="3214116"/>
            <a:ext cx="2011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従業員数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214116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50名（2025年12月時点）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49040" y="3959352"/>
            <a:ext cx="5120640" cy="6812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3959352"/>
            <a:ext cx="54864" cy="68122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95344" y="3986784"/>
            <a:ext cx="20116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986784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https://example.com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memberGrid — メンバー紹介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261104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4261104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山田 太郎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代表取締役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773936"/>
            <a:ext cx="3986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大手IT企業出身。10年以上のプロダクト開発経験を持つ。ビジョン：テクノロジーで業務を変革する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005840"/>
            <a:ext cx="4261104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005840"/>
            <a:ext cx="4261104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241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鈴木 花子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36592" y="142646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取締役 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64024" y="1773936"/>
            <a:ext cx="3986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クラウドインフラとセキュリティの専門家。大規模システムの設計・運用経験が豊富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715768"/>
            <a:ext cx="4261104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715768"/>
            <a:ext cx="4261104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3405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田中 一郎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136392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3483864"/>
            <a:ext cx="3986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エンタープライズ営業15年。顧客の課題を的確に把握し、最適なソリューションを提案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2715768"/>
            <a:ext cx="4261104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2715768"/>
            <a:ext cx="4261104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73405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佐藤 美咲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6592" y="3136392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デザイン部長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64024" y="3483864"/>
            <a:ext cx="398678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UI/UXデザインのスペシャリスト。ユーザー中心設計でプロダクトの使いやすさを追求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logoGrid — 導入実績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694432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2694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株式会社XXXXX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24784" y="1097280"/>
            <a:ext cx="2694432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4784" y="1097280"/>
            <a:ext cx="2694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株式会社XXXXX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02096" y="1097280"/>
            <a:ext cx="2694432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2096" y="1097280"/>
            <a:ext cx="2694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株式会社XXXXX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560320"/>
            <a:ext cx="2694432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560320"/>
            <a:ext cx="2694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株式会社XXXXX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24784" y="2560320"/>
            <a:ext cx="2694432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4784" y="2560320"/>
            <a:ext cx="2694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株式会社XXXXX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02096" y="2560320"/>
            <a:ext cx="2694432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2096" y="2560320"/>
            <a:ext cx="2694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株式会社XXXXX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" y="402336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掲載は架空のデータです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3716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45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コンサルグレード系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56616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データ+テキスト解説を1枚に収める（McKinseyスタイル）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508760"/>
            <a:ext cx="1371600" cy="54864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barChartSlide — インサイトパネル付き縦棒グラフ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987552"/>
          <a:ext cx="5175504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96128" y="987552"/>
            <a:ext cx="32918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96128" y="987552"/>
            <a:ext cx="3291840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24144" y="100584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成長のポイント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42432" y="162763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88736" y="151790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Q5以降、施策効果で成長率が加速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42432" y="222199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88736" y="211226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Q7に一時的な踊り場。競合製品の影響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42432" y="281635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88736" y="270662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Q8で過去最高売上を更新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縦棒グラフに「Key Insights」パネルを追加した複合レイアウト（架空データ）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chartWithInsight — 折れ線グラフ＋インサイト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987552"/>
          <a:ext cx="5175504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96128" y="987552"/>
            <a:ext cx="32918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96128" y="987552"/>
            <a:ext cx="3291840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24144" y="100584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トレンド解説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42432" y="162763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88736" y="151790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CX改善施策（4月）後、満足度が継続上昇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42432" y="222199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88736" y="211226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満足度上昇と解約率低下は強い相関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42432" y="281635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88736" y="270662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10月時点でCSAT 92点・解約率2%を達成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任意のチャートタイプ＋インサイトパネルを組み合わせた汎用テンプレート（架空データ）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stackedBarChart — 積み上げ棒グラフ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987552"/>
          <a:ext cx="5175504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96128" y="987552"/>
            <a:ext cx="32918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96128" y="987552"/>
            <a:ext cx="3291840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24144" y="100584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42432" y="162763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88736" y="151790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5年間で全事業が2倍以上に成長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42432" y="222199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88736" y="211226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自動化事業の成長率が最も高い（CAGR 34%）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42432" y="281635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88736" y="270662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事業ポートフォリオの多様化が進む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複数系列を積み上げて全体と内訳の両方を見せる（架空データ）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stackedBarChart — 100%積み上げ（構成比推移）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987552"/>
          <a:ext cx="8631936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構成比の推移を100%積み上げで表現（架空データ）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waterfallChart — ウォーターフォールチャート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5175504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3858768"/>
            <a:ext cx="4882896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6905"/>
            <a:ext cx="765048" cy="1841863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15737"/>
            <a:ext cx="85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3931920"/>
            <a:ext cx="85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前期売上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03960" y="1574858"/>
            <a:ext cx="765048" cy="442047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8240" y="1373690"/>
            <a:ext cx="85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+120M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58240" y="3931920"/>
            <a:ext cx="85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新規顧客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30808" y="2016905"/>
            <a:ext cx="73152" cy="-442047"/>
          </a:xfrm>
          <a:prstGeom prst="line">
            <a:avLst/>
          </a:prstGeom>
          <a:noFill/>
          <a:ln w="12700">
            <a:solidFill>
              <a:srgbClr val="7A8B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2160" y="1280160"/>
            <a:ext cx="765048" cy="294698"/>
          </a:xfrm>
          <a:prstGeom prst="rect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6440" y="1078992"/>
            <a:ext cx="85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96440" y="3931920"/>
            <a:ext cx="85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アップセル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69008" y="1574858"/>
            <a:ext cx="73152" cy="-294698"/>
          </a:xfrm>
          <a:prstGeom prst="line">
            <a:avLst/>
          </a:prstGeom>
          <a:noFill/>
          <a:ln w="12700">
            <a:solidFill>
              <a:srgbClr val="7A8B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280160"/>
            <a:ext cx="765048" cy="221024"/>
          </a:xfrm>
          <a:prstGeom prst="rect">
            <a:avLst/>
          </a:prstGeom>
          <a:solidFill>
            <a:srgbClr val="C45B5B"/>
          </a:solidFill>
          <a:ln w="12700">
            <a:solidFill>
              <a:srgbClr val="C45B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1078992"/>
            <a:ext cx="85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34640" y="3931920"/>
            <a:ext cx="85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07208" y="1280160"/>
            <a:ext cx="73152" cy="221024"/>
          </a:xfrm>
          <a:prstGeom prst="line">
            <a:avLst/>
          </a:prstGeom>
          <a:noFill/>
          <a:ln w="12700">
            <a:solidFill>
              <a:srgbClr val="7A8B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8560" y="1501184"/>
            <a:ext cx="765048" cy="110512"/>
          </a:xfrm>
          <a:prstGeom prst="rect">
            <a:avLst/>
          </a:prstGeom>
          <a:solidFill>
            <a:srgbClr val="C45B5B"/>
          </a:solidFill>
          <a:ln w="12700">
            <a:solidFill>
              <a:srgbClr val="C45B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2840" y="1300016"/>
            <a:ext cx="85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72840" y="3931920"/>
            <a:ext cx="85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ダウングレード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45408" y="1501184"/>
            <a:ext cx="73152" cy="110512"/>
          </a:xfrm>
          <a:prstGeom prst="line">
            <a:avLst/>
          </a:prstGeom>
          <a:noFill/>
          <a:ln w="12700">
            <a:solidFill>
              <a:srgbClr val="7A8B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6760" y="1611695"/>
            <a:ext cx="765048" cy="2247073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1040" y="1410527"/>
            <a:ext cx="85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11040" y="3931920"/>
            <a:ext cx="85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今期売上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3608" y="1611695"/>
            <a:ext cx="73152" cy="0"/>
          </a:xfrm>
          <a:prstGeom prst="line">
            <a:avLst/>
          </a:prstGeom>
          <a:noFill/>
          <a:ln w="12700">
            <a:solidFill>
              <a:srgbClr val="7A8B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987552"/>
            <a:ext cx="32918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96128" y="987552"/>
            <a:ext cx="3291840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24144" y="1005840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42432" y="162763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88736" y="151790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新規顧客獲得が最大の成長ドライバー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42432" y="222199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88736" y="211226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解約・ダウングレードで▲90M円の損失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42432" y="2816352"/>
            <a:ext cx="91440" cy="91440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8736" y="270662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純増は +110M円（成長率 +22%）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開始値→要因分解→合計値の変化を視覚化（架空データ。単位：百万円）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executiveSummary — エグゼクティブサマリー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69723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91440" cy="69723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方針：今期は「顧客成功」への全社シフト。CX向上で解約率を業界平均の半分以下に抑制し、LTV最大化と安定成長を両立させる。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776222"/>
            <a:ext cx="8631936" cy="69723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776222"/>
            <a:ext cx="91440" cy="69723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937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課題：解約率が業界平均を上回る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220599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" y="221513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現状の年間解約率 8.5%（業界平均 5.2%）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" y="248031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" y="248945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オンボーディング完了率が低い（58%）ことが主因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" y="275463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" y="276377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離脱の60%がサービス開始から90日以内に発生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564892"/>
            <a:ext cx="8631936" cy="69723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564892"/>
            <a:ext cx="91440" cy="69723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380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方針：CSM体制の強化とオンボーディング再設計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" y="299466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" y="30038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CSMを現在の3名から8名へ拡充（来期Q1）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2064" y="326898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" y="327812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オンボーディングプログラムを45日コースに体系化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" y="35433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" y="355244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90日チェックポイントで早期アラート体制を構築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3353562"/>
            <a:ext cx="8631936" cy="69723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353562"/>
            <a:ext cx="91440" cy="69723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2671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目標：12ヶ月で解約率を4%台へ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" y="378333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" y="379247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解約率 8.5% → 4.2%（前年比▲4.3pt）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2064" y="405765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" y="406679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 ¥1.2M → ¥2.1M（+75%）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2064" y="433197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" y="434111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NPS: 35 → 55（業界トップ水準）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テキスト主体のエグゼクティブサマリー（McKinseyスタイル・架空データ）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scopeSlide — スコープ定義（✓/✗）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233672" cy="3063240"/>
          </a:xfrm>
          <a:prstGeom prst="rect">
            <a:avLst/>
          </a:prstGeom>
          <a:solidFill>
            <a:srgbClr val="EAF5EF"/>
          </a:solidFill>
          <a:ln w="12700">
            <a:solidFill>
              <a:srgbClr val="2E7D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87552"/>
            <a:ext cx="4233672" cy="420624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241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1014984"/>
            <a:ext cx="3685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対象範囲（In Scope）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" y="1655064"/>
            <a:ext cx="91440" cy="9144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55448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国内法人顧客（従業員50名以上）への提供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0624" y="2167128"/>
            <a:ext cx="91440" cy="9144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06654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クラウド型SaaSサービスのみ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" y="2679192"/>
            <a:ext cx="91440" cy="9144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57860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データ分析・自動化・クラウド移行の3領域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0624" y="3191256"/>
            <a:ext cx="91440" cy="9144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09067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24時間サポート（プレミアムプラン）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" y="3703320"/>
            <a:ext cx="91440" cy="9144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60273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年間契約・月額契約の両方に対応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54296" y="987552"/>
            <a:ext cx="4233672" cy="30632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987552"/>
            <a:ext cx="4233672" cy="420624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1024128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93208" y="1014984"/>
            <a:ext cx="3685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対象外（Out of Scope）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18888" y="1655064"/>
            <a:ext cx="91440" cy="91440"/>
          </a:xfrm>
          <a:prstGeom prst="ellipse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55448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個人・フリーランス向けプラン（今後検討）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18888" y="2167128"/>
            <a:ext cx="91440" cy="91440"/>
          </a:xfrm>
          <a:prstGeom prst="ellipse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06654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オンプレミス環境への個別インストール対応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18888" y="2679192"/>
            <a:ext cx="91440" cy="91440"/>
          </a:xfrm>
          <a:prstGeom prst="ellipse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578608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海外拠点への直接サポート（パートナー経由）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18888" y="3191256"/>
            <a:ext cx="91440" cy="91440"/>
          </a:xfrm>
          <a:prstGeom prst="ellipse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09067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ハードウェア提供・物理インフラ構築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対象範囲と対象外を明確に区別するスコープ定義スライド（架空）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64592"/>
            <a:ext cx="54864" cy="502920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463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hBarWithExplanation — 横棒比較＋解説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164592" cy="10972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692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27632" y="987552"/>
            <a:ext cx="164592" cy="109728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9692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243584"/>
            <a:ext cx="8631936" cy="62407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16736"/>
            <a:ext cx="166420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製品品質スコア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84832" y="1389888"/>
            <a:ext cx="2743200" cy="164592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84832" y="1389888"/>
            <a:ext cx="2414016" cy="16459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36245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84832" y="1589593"/>
            <a:ext cx="2743200" cy="164592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1589593"/>
            <a:ext cx="1975104" cy="16459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562161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72点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41264" y="1316736"/>
            <a:ext cx="35661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独自AI品質管理で不良率0.3%を達成。業界平均の1/4水準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1940814"/>
            <a:ext cx="8631936" cy="62407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13966"/>
            <a:ext cx="166420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導入速度スコア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84832" y="2087118"/>
            <a:ext cx="2743200" cy="164592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4832" y="2087118"/>
            <a:ext cx="2112264" cy="16459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05968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77点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84832" y="2286823"/>
            <a:ext cx="2743200" cy="164592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2286823"/>
            <a:ext cx="685800" cy="16459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259391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41264" y="2013966"/>
            <a:ext cx="35661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自社14日 vs 競合45日（60日満点）。導入期間を68%短縮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2638044"/>
            <a:ext cx="8631936" cy="62407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711196"/>
            <a:ext cx="166420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顧客満足度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84832" y="2784348"/>
            <a:ext cx="2743200" cy="164592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84832" y="2784348"/>
            <a:ext cx="2523744" cy="16459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7569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92点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084832" y="2984053"/>
            <a:ext cx="2743200" cy="164592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84832" y="2984053"/>
            <a:ext cx="2139696" cy="16459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956621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78点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41264" y="2711196"/>
            <a:ext cx="35661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62点（業界平均38点）。継続率98%を維持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" y="3335274"/>
            <a:ext cx="8631936" cy="62407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408426"/>
            <a:ext cx="1664208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コスト効率スコア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084832" y="3481578"/>
            <a:ext cx="2743200" cy="164592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84832" y="3481578"/>
            <a:ext cx="2057400" cy="164592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45414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75点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084832" y="3681283"/>
            <a:ext cx="2743200" cy="164592"/>
          </a:xfrm>
          <a:prstGeom prst="rect">
            <a:avLst/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3681283"/>
            <a:ext cx="1645920" cy="164592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3653851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60点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41264" y="3408426"/>
            <a:ext cx="35661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運用コストを自動化で35%削減。TCO比較で自社が優位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56032" y="4425696"/>
            <a:ext cx="8631936" cy="38404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42569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行ごとに指標名・横棒ペア・解説テキストを並べるMcKinseyスタイル（架空データ）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468880" y="9144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次のステップは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ここから始まります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0" y="1993392"/>
            <a:ext cx="4572000" cy="36576"/>
          </a:xfrm>
          <a:prstGeom prst="rect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2203704"/>
            <a:ext cx="256032" cy="256032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21488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30分の無料相談で、課題を整理しましょう。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2734056"/>
            <a:ext cx="256032" cy="256032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6791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現状の業務フローをお聞かせください。改善案を即日お伝えします。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3264408"/>
            <a:ext cx="256032" cy="256032"/>
          </a:xfrm>
          <a:prstGeom prst="ellipse">
            <a:avLst/>
          </a:prstGeom>
          <a:solidFill>
            <a:srgbClr val="2E7D8E"/>
          </a:solidFill>
          <a:ln w="12700">
            <a:solidFill>
              <a:srgbClr val="2E7D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20954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無理な営業は一切しません。合わないと正直にお伝えします。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4023360"/>
            <a:ext cx="6400800" cy="777240"/>
          </a:xfrm>
          <a:prstGeom prst="rect">
            <a:avLst/>
          </a:prstGeom>
          <a:solidFill>
            <a:srgbClr val="E2E8F2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4059936"/>
            <a:ext cx="60716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株式会社〇〇テクノロジー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https://example.com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info@example.com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691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4869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Showcase</dc:title>
  <dc:subject>PptxGenJS Presentation</dc:subject>
  <dc:creator>Slide Creator Skill</dc:creator>
  <cp:lastModifiedBy>Slide Creator Skill</cp:lastModifiedBy>
  <cp:revision>1</cp:revision>
  <dcterms:created xsi:type="dcterms:W3CDTF">2026-04-09T02:13:51Z</dcterms:created>
  <dcterms:modified xsi:type="dcterms:W3CDTF">2026-04-09T02:13:51Z</dcterms:modified>
</cp:coreProperties>
</file>